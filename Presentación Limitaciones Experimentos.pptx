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61"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83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33A"/>
          </a:solidFill>
          <a:ln w="12700">
            <a:solidFill>
              <a:srgbClr val="E8533A"/>
            </a:solidFill>
            <a:prstDash val="solid"/>
          </a:ln>
        </p:spPr>
        <p:txBody>
          <a:bodyPr/>
          <a:lstStyle/>
          <a:p>
            <a:endParaRPr lang="es-CO"/>
          </a:p>
        </p:txBody>
      </p:sp>
      <p:sp>
        <p:nvSpPr>
          <p:cNvPr id="3" name="Text 1"/>
          <p:cNvSpPr/>
          <p:nvPr/>
        </p:nvSpPr>
        <p:spPr>
          <a:xfrm>
            <a:off x="365760" y="1097280"/>
            <a:ext cx="8412480" cy="320040"/>
          </a:xfrm>
          <a:prstGeom prst="rect">
            <a:avLst/>
          </a:prstGeom>
          <a:noFill/>
          <a:ln/>
        </p:spPr>
        <p:txBody>
          <a:bodyPr wrap="square" rtlCol="0" anchor="ctr"/>
          <a:lstStyle/>
          <a:p>
            <a:pPr marL="0" indent="0">
              <a:buNone/>
            </a:pPr>
            <a:r>
              <a:rPr lang="en-US" sz="1000" kern="0" spc="300" dirty="0">
                <a:solidFill>
                  <a:srgbClr val="8A8F9E"/>
                </a:solidFill>
                <a:latin typeface="Calibri" pitchFamily="34" charset="0"/>
                <a:ea typeface="Calibri" pitchFamily="34" charset="-122"/>
                <a:cs typeface="Calibri" pitchFamily="34" charset="-120"/>
              </a:rPr>
              <a:t>DOING ECONOMICS · TALLER 4</a:t>
            </a:r>
            <a:endParaRPr lang="en-US" sz="1000" dirty="0"/>
          </a:p>
        </p:txBody>
      </p:sp>
      <p:sp>
        <p:nvSpPr>
          <p:cNvPr id="4" name="Text 2"/>
          <p:cNvSpPr/>
          <p:nvPr/>
        </p:nvSpPr>
        <p:spPr>
          <a:xfrm>
            <a:off x="365760" y="1554480"/>
            <a:ext cx="8412480" cy="1645920"/>
          </a:xfrm>
          <a:prstGeom prst="rect">
            <a:avLst/>
          </a:prstGeom>
          <a:noFill/>
          <a:ln/>
        </p:spPr>
        <p:txBody>
          <a:bodyPr wrap="square"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Limitaciones de los</a:t>
            </a:r>
            <a:endParaRPr lang="en-US" sz="3600" dirty="0"/>
          </a:p>
          <a:p>
            <a:pPr marL="0" indent="0">
              <a:buNone/>
            </a:pPr>
            <a:r>
              <a:rPr lang="en-US" sz="3600" b="1" dirty="0">
                <a:solidFill>
                  <a:srgbClr val="FFFFFF"/>
                </a:solidFill>
                <a:latin typeface="Calibri" pitchFamily="34" charset="0"/>
                <a:ea typeface="Calibri" pitchFamily="34" charset="-122"/>
                <a:cs typeface="Calibri" pitchFamily="34" charset="-120"/>
              </a:rPr>
              <a:t>Experimentos de Laboratorio</a:t>
            </a:r>
            <a:endParaRPr lang="en-US" sz="3600" dirty="0"/>
          </a:p>
        </p:txBody>
      </p:sp>
      <p:sp>
        <p:nvSpPr>
          <p:cNvPr id="5" name="Text 3"/>
          <p:cNvSpPr/>
          <p:nvPr/>
        </p:nvSpPr>
        <p:spPr>
          <a:xfrm>
            <a:off x="365760" y="3200400"/>
            <a:ext cx="6400800" cy="457200"/>
          </a:xfrm>
          <a:prstGeom prst="rect">
            <a:avLst/>
          </a:prstGeom>
          <a:noFill/>
          <a:ln/>
        </p:spPr>
        <p:txBody>
          <a:bodyPr wrap="square" rtlCol="0" anchor="ctr"/>
          <a:lstStyle/>
          <a:p>
            <a:pPr marL="0" indent="0">
              <a:buNone/>
            </a:pPr>
            <a:r>
              <a:rPr lang="en-US" sz="1600" dirty="0">
                <a:solidFill>
                  <a:srgbClr val="F5F3EE"/>
                </a:solidFill>
                <a:latin typeface="Calibri" pitchFamily="34" charset="0"/>
                <a:ea typeface="Calibri" pitchFamily="34" charset="-122"/>
                <a:cs typeface="Calibri" pitchFamily="34" charset="-120"/>
              </a:rPr>
              <a:t>¿Qué tan bien reflejan el mundo real?</a:t>
            </a:r>
            <a:endParaRPr lang="en-US" sz="1600" dirty="0"/>
          </a:p>
        </p:txBody>
      </p:sp>
      <p:sp>
        <p:nvSpPr>
          <p:cNvPr id="6" name="Text 4"/>
          <p:cNvSpPr/>
          <p:nvPr/>
        </p:nvSpPr>
        <p:spPr>
          <a:xfrm>
            <a:off x="365760" y="4480560"/>
            <a:ext cx="8412480" cy="365760"/>
          </a:xfrm>
          <a:prstGeom prst="rect">
            <a:avLst/>
          </a:prstGeom>
          <a:noFill/>
          <a:ln/>
        </p:spPr>
        <p:txBody>
          <a:bodyPr wrap="square" rtlCol="0" anchor="ctr"/>
          <a:lstStyle/>
          <a:p>
            <a:pPr marL="0" indent="0">
              <a:buNone/>
            </a:pPr>
            <a:r>
              <a:rPr lang="en-US" sz="1000" dirty="0">
                <a:solidFill>
                  <a:srgbClr val="8A8F9E"/>
                </a:solidFill>
                <a:latin typeface="Calibri" pitchFamily="34" charset="0"/>
                <a:ea typeface="Calibri" pitchFamily="34" charset="-122"/>
                <a:cs typeface="Calibri" pitchFamily="34" charset="-120"/>
              </a:rPr>
              <a:t>Jessica Gil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s-CO"/>
          </a:p>
        </p:txBody>
      </p:sp>
      <p:sp>
        <p:nvSpPr>
          <p:cNvPr id="3" name="Text 1"/>
          <p:cNvSpPr/>
          <p:nvPr/>
        </p:nvSpPr>
        <p:spPr>
          <a:xfrm>
            <a:off x="365760" y="0"/>
            <a:ext cx="82296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¿Por qué tener esto presente?</a:t>
            </a:r>
            <a:endParaRPr lang="en-US" sz="2200" dirty="0"/>
          </a:p>
        </p:txBody>
      </p:sp>
      <p:sp>
        <p:nvSpPr>
          <p:cNvPr id="4" name="Text 2"/>
          <p:cNvSpPr/>
          <p:nvPr/>
        </p:nvSpPr>
        <p:spPr>
          <a:xfrm>
            <a:off x="365760" y="1119534"/>
            <a:ext cx="8412480" cy="563400"/>
          </a:xfrm>
          <a:prstGeom prst="rect">
            <a:avLst/>
          </a:prstGeom>
          <a:noFill/>
          <a:ln/>
        </p:spPr>
        <p:txBody>
          <a:bodyPr wrap="square" rtlCol="0" anchor="ctr"/>
          <a:lstStyle/>
          <a:p>
            <a:pPr marL="0" indent="0">
              <a:buNone/>
            </a:pPr>
            <a:endParaRPr lang="en-US" sz="1300" b="1" i="1" dirty="0">
              <a:solidFill>
                <a:srgbClr val="1E2761"/>
              </a:solidFill>
              <a:latin typeface="Calibri" pitchFamily="34" charset="0"/>
              <a:ea typeface="Calibri" pitchFamily="34" charset="-122"/>
              <a:cs typeface="Calibri" pitchFamily="34" charset="-120"/>
            </a:endParaRPr>
          </a:p>
          <a:p>
            <a:pPr marL="0" indent="0">
              <a:buNone/>
            </a:pPr>
            <a:r>
              <a:rPr lang="es-ES" sz="1300" dirty="0"/>
              <a:t>Para </a:t>
            </a:r>
            <a:r>
              <a:rPr lang="es-ES" sz="1300" b="1" dirty="0"/>
              <a:t>validar los experimentos en el mundo real </a:t>
            </a:r>
            <a:r>
              <a:rPr lang="es-ES" sz="1300" dirty="0"/>
              <a:t>es importante conocer:</a:t>
            </a:r>
          </a:p>
          <a:p>
            <a:pPr marL="0" indent="0">
              <a:buNone/>
            </a:pPr>
            <a:r>
              <a:rPr lang="es-ES" sz="1300" dirty="0"/>
              <a:t>¿quiénes eran los participantes? ¿Sabían que los observaban? ¿Cuánto dinero estaba en juego realmente? </a:t>
            </a:r>
            <a:endParaRPr lang="en-US" sz="1300" dirty="0"/>
          </a:p>
        </p:txBody>
      </p:sp>
      <p:sp>
        <p:nvSpPr>
          <p:cNvPr id="5" name="Shape 3"/>
          <p:cNvSpPr/>
          <p:nvPr/>
        </p:nvSpPr>
        <p:spPr>
          <a:xfrm>
            <a:off x="274320" y="2025229"/>
            <a:ext cx="8595360" cy="1143000"/>
          </a:xfrm>
          <a:prstGeom prst="rect">
            <a:avLst/>
          </a:prstGeom>
          <a:solidFill>
            <a:srgbClr val="FFFFFF"/>
          </a:solidFill>
          <a:ln w="12700">
            <a:solidFill>
              <a:srgbClr val="EAEAF0"/>
            </a:solidFill>
            <a:prstDash val="solid"/>
          </a:ln>
          <a:effectLst>
            <a:outerShdw blurRad="50800" dist="25400" dir="8100000" algn="bl" rotWithShape="0">
              <a:srgbClr val="000000">
                <a:alpha val="7000"/>
              </a:srgbClr>
            </a:outerShdw>
          </a:effectLst>
        </p:spPr>
        <p:txBody>
          <a:bodyPr/>
          <a:lstStyle/>
          <a:p>
            <a:endParaRPr lang="es-CO"/>
          </a:p>
        </p:txBody>
      </p:sp>
      <p:sp>
        <p:nvSpPr>
          <p:cNvPr id="6" name="Shape 4"/>
          <p:cNvSpPr/>
          <p:nvPr/>
        </p:nvSpPr>
        <p:spPr>
          <a:xfrm>
            <a:off x="274320" y="2025229"/>
            <a:ext cx="91440" cy="1143000"/>
          </a:xfrm>
          <a:prstGeom prst="rect">
            <a:avLst/>
          </a:prstGeom>
          <a:solidFill>
            <a:srgbClr val="E8533A"/>
          </a:solidFill>
          <a:ln w="12700">
            <a:solidFill>
              <a:srgbClr val="E8533A"/>
            </a:solidFill>
            <a:prstDash val="solid"/>
          </a:ln>
        </p:spPr>
        <p:txBody>
          <a:bodyPr/>
          <a:lstStyle/>
          <a:p>
            <a:endParaRPr lang="es-CO"/>
          </a:p>
        </p:txBody>
      </p:sp>
      <p:sp>
        <p:nvSpPr>
          <p:cNvPr id="7" name="Text 5"/>
          <p:cNvSpPr/>
          <p:nvPr/>
        </p:nvSpPr>
        <p:spPr>
          <a:xfrm>
            <a:off x="502920" y="2116669"/>
            <a:ext cx="8138160" cy="32004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Herrmann et al.</a:t>
            </a:r>
            <a:endParaRPr lang="en-US" sz="1250" dirty="0"/>
          </a:p>
        </p:txBody>
      </p:sp>
      <p:sp>
        <p:nvSpPr>
          <p:cNvPr id="8" name="Text 6"/>
          <p:cNvSpPr/>
          <p:nvPr/>
        </p:nvSpPr>
        <p:spPr>
          <a:xfrm>
            <a:off x="502920" y="2436709"/>
            <a:ext cx="8138160" cy="658368"/>
          </a:xfrm>
          <a:prstGeom prst="rect">
            <a:avLst/>
          </a:prstGeom>
          <a:noFill/>
          <a:ln/>
        </p:spPr>
        <p:txBody>
          <a:bodyPr wrap="square" rtlCol="0" anchor="ctr"/>
          <a:lstStyle/>
          <a:p>
            <a:pPr marL="0" indent="0">
              <a:buNone/>
            </a:pPr>
            <a:r>
              <a:rPr lang="en-US" sz="1150" dirty="0">
                <a:solidFill>
                  <a:srgbClr val="363636"/>
                </a:solidFill>
                <a:latin typeface="Calibri" pitchFamily="34" charset="0"/>
                <a:ea typeface="Calibri" pitchFamily="34" charset="-122"/>
                <a:cs typeface="Calibri" pitchFamily="34" charset="-120"/>
              </a:rPr>
              <a:t>Los resultados muestran que el castigo funciona en promedio, pero la enorme variación entre sociedades revela que el contexto cultural y las normas locales importan tanto como las reglas del juego.</a:t>
            </a:r>
            <a:endParaRPr lang="en-US" sz="1150" dirty="0"/>
          </a:p>
        </p:txBody>
      </p:sp>
      <p:sp>
        <p:nvSpPr>
          <p:cNvPr id="9" name="Shape 7"/>
          <p:cNvSpPr/>
          <p:nvPr/>
        </p:nvSpPr>
        <p:spPr>
          <a:xfrm>
            <a:off x="274320" y="3328779"/>
            <a:ext cx="8595360" cy="1143000"/>
          </a:xfrm>
          <a:prstGeom prst="rect">
            <a:avLst/>
          </a:prstGeom>
          <a:solidFill>
            <a:srgbClr val="FFFFFF"/>
          </a:solidFill>
          <a:ln w="12700">
            <a:solidFill>
              <a:srgbClr val="EAEAF0"/>
            </a:solidFill>
            <a:prstDash val="solid"/>
          </a:ln>
          <a:effectLst>
            <a:outerShdw blurRad="50800" dist="25400" dir="8100000" algn="bl" rotWithShape="0">
              <a:srgbClr val="000000">
                <a:alpha val="7000"/>
              </a:srgbClr>
            </a:outerShdw>
          </a:effectLst>
        </p:spPr>
        <p:txBody>
          <a:bodyPr/>
          <a:lstStyle/>
          <a:p>
            <a:endParaRPr lang="es-CO"/>
          </a:p>
        </p:txBody>
      </p:sp>
      <p:sp>
        <p:nvSpPr>
          <p:cNvPr id="10" name="Shape 8"/>
          <p:cNvSpPr/>
          <p:nvPr/>
        </p:nvSpPr>
        <p:spPr>
          <a:xfrm>
            <a:off x="274320" y="3328779"/>
            <a:ext cx="91440" cy="1143000"/>
          </a:xfrm>
          <a:prstGeom prst="rect">
            <a:avLst/>
          </a:prstGeom>
          <a:solidFill>
            <a:srgbClr val="028090"/>
          </a:solidFill>
          <a:ln w="12700">
            <a:solidFill>
              <a:srgbClr val="028090"/>
            </a:solidFill>
            <a:prstDash val="solid"/>
          </a:ln>
        </p:spPr>
        <p:txBody>
          <a:bodyPr/>
          <a:lstStyle/>
          <a:p>
            <a:endParaRPr lang="es-CO"/>
          </a:p>
        </p:txBody>
      </p:sp>
      <p:sp>
        <p:nvSpPr>
          <p:cNvPr id="11" name="Text 9"/>
          <p:cNvSpPr/>
          <p:nvPr/>
        </p:nvSpPr>
        <p:spPr>
          <a:xfrm>
            <a:off x="502920" y="3420219"/>
            <a:ext cx="8138160" cy="32004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Juego de clase</a:t>
            </a:r>
            <a:endParaRPr lang="en-US" sz="1250" dirty="0"/>
          </a:p>
        </p:txBody>
      </p:sp>
      <p:sp>
        <p:nvSpPr>
          <p:cNvPr id="12" name="Text 10"/>
          <p:cNvSpPr/>
          <p:nvPr/>
        </p:nvSpPr>
        <p:spPr>
          <a:xfrm>
            <a:off x="502920" y="3740259"/>
            <a:ext cx="8138160" cy="658368"/>
          </a:xfrm>
          <a:prstGeom prst="rect">
            <a:avLst/>
          </a:prstGeom>
          <a:noFill/>
          <a:ln/>
        </p:spPr>
        <p:txBody>
          <a:bodyPr wrap="square" rtlCol="0" anchor="ctr"/>
          <a:lstStyle/>
          <a:p>
            <a:pPr marL="0" indent="0">
              <a:buNone/>
            </a:pPr>
            <a:r>
              <a:rPr lang="en-US" sz="1150" dirty="0">
                <a:solidFill>
                  <a:srgbClr val="363636"/>
                </a:solidFill>
                <a:latin typeface="Calibri" pitchFamily="34" charset="0"/>
                <a:ea typeface="Calibri" pitchFamily="34" charset="-122"/>
                <a:cs typeface="Calibri" pitchFamily="34" charset="-120"/>
              </a:rPr>
              <a:t>Los participantes se conocen, no hay incentivos reales y el experimento duró una sola sesión. Estas condiciones difieren del diseño original, por eso la caída de contribuciones fue más abrupta. Los resultados son válidos como ilustración, pero no son directamente comparables.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s-CO"/>
          </a:p>
        </p:txBody>
      </p:sp>
      <p:sp>
        <p:nvSpPr>
          <p:cNvPr id="3" name="Text 1"/>
          <p:cNvSpPr/>
          <p:nvPr/>
        </p:nvSpPr>
        <p:spPr>
          <a:xfrm>
            <a:off x="365760" y="0"/>
            <a:ext cx="8229600" cy="777240"/>
          </a:xfrm>
          <a:prstGeom prst="rect">
            <a:avLst/>
          </a:prstGeom>
          <a:noFill/>
          <a:ln/>
        </p:spPr>
        <p:txBody>
          <a:bodyPr wrap="square" rtlCol="0" anchor="ctr"/>
          <a:lstStyle/>
          <a:p>
            <a:pPr marL="0" indent="0">
              <a:buNone/>
            </a:pPr>
            <a:r>
              <a:rPr lang="en-US" sz="2000" b="1" dirty="0" err="1">
                <a:solidFill>
                  <a:srgbClr val="FFFFFF"/>
                </a:solidFill>
                <a:latin typeface="Calibri" pitchFamily="34" charset="0"/>
                <a:ea typeface="Calibri" pitchFamily="34" charset="-122"/>
                <a:cs typeface="Calibri" pitchFamily="34" charset="-120"/>
              </a:rPr>
              <a:t>Muestra</a:t>
            </a:r>
            <a:r>
              <a:rPr lang="en-US" sz="2000" b="1" dirty="0">
                <a:solidFill>
                  <a:srgbClr val="FFFFFF"/>
                </a:solidFill>
                <a:latin typeface="Calibri" pitchFamily="34" charset="0"/>
                <a:ea typeface="Calibri" pitchFamily="34" charset="-122"/>
                <a:cs typeface="Calibri" pitchFamily="34" charset="-120"/>
              </a:rPr>
              <a:t> y Escrutinio</a:t>
            </a:r>
            <a:endParaRPr lang="en-US" sz="2000" dirty="0"/>
          </a:p>
        </p:txBody>
      </p:sp>
      <p:sp>
        <p:nvSpPr>
          <p:cNvPr id="4" name="Shape 2"/>
          <p:cNvSpPr/>
          <p:nvPr/>
        </p:nvSpPr>
        <p:spPr>
          <a:xfrm>
            <a:off x="274320" y="960120"/>
            <a:ext cx="4023360" cy="3749040"/>
          </a:xfrm>
          <a:prstGeom prst="rect">
            <a:avLst/>
          </a:prstGeom>
          <a:solidFill>
            <a:srgbClr val="FFFFFF"/>
          </a:solidFill>
          <a:ln w="12700">
            <a:solidFill>
              <a:srgbClr val="EAEAF0"/>
            </a:solidFill>
            <a:prstDash val="solid"/>
          </a:ln>
        </p:spPr>
        <p:txBody>
          <a:bodyPr/>
          <a:lstStyle/>
          <a:p>
            <a:endParaRPr lang="es-CO"/>
          </a:p>
        </p:txBody>
      </p:sp>
      <p:sp>
        <p:nvSpPr>
          <p:cNvPr id="5" name="Shape 3"/>
          <p:cNvSpPr/>
          <p:nvPr/>
        </p:nvSpPr>
        <p:spPr>
          <a:xfrm>
            <a:off x="274320" y="960120"/>
            <a:ext cx="4023360" cy="64008"/>
          </a:xfrm>
          <a:prstGeom prst="rect">
            <a:avLst/>
          </a:prstGeom>
          <a:solidFill>
            <a:srgbClr val="E8533A"/>
          </a:solidFill>
          <a:ln w="12700">
            <a:solidFill>
              <a:srgbClr val="E8533A"/>
            </a:solidFill>
            <a:prstDash val="solid"/>
          </a:ln>
        </p:spPr>
        <p:txBody>
          <a:bodyPr/>
          <a:lstStyle/>
          <a:p>
            <a:endParaRPr lang="es-CO"/>
          </a:p>
        </p:txBody>
      </p:sp>
      <p:sp>
        <p:nvSpPr>
          <p:cNvPr id="6" name="Text 4"/>
          <p:cNvSpPr/>
          <p:nvPr/>
        </p:nvSpPr>
        <p:spPr>
          <a:xfrm>
            <a:off x="457200" y="1097280"/>
            <a:ext cx="3657600" cy="4114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01  Muestra no representativa</a:t>
            </a:r>
            <a:endParaRPr lang="en-US" sz="1300" dirty="0"/>
          </a:p>
        </p:txBody>
      </p:sp>
      <p:sp>
        <p:nvSpPr>
          <p:cNvPr id="7" name="Text 5"/>
          <p:cNvSpPr/>
          <p:nvPr/>
        </p:nvSpPr>
        <p:spPr>
          <a:xfrm>
            <a:off x="457200" y="1600200"/>
            <a:ext cx="3657600" cy="1188720"/>
          </a:xfrm>
          <a:prstGeom prst="rect">
            <a:avLst/>
          </a:prstGeom>
          <a:noFill/>
          <a:ln/>
        </p:spPr>
        <p:txBody>
          <a:bodyPr wrap="square" rtlCol="0" anchor="ctr"/>
          <a:lstStyle/>
          <a:p>
            <a:pPr marL="0" indent="0">
              <a:buNone/>
            </a:pPr>
            <a:r>
              <a:rPr lang="en-US" sz="1200" b="1" dirty="0">
                <a:solidFill>
                  <a:srgbClr val="363636"/>
                </a:solidFill>
                <a:latin typeface="Calibri" pitchFamily="34" charset="0"/>
                <a:ea typeface="Calibri" pitchFamily="34" charset="-122"/>
                <a:cs typeface="Calibri" pitchFamily="34" charset="-120"/>
              </a:rPr>
              <a:t>Problema: </a:t>
            </a:r>
            <a:r>
              <a:rPr lang="en-US" sz="1200" dirty="0">
                <a:solidFill>
                  <a:srgbClr val="363636"/>
                </a:solidFill>
                <a:latin typeface="Calibri" pitchFamily="34" charset="0"/>
                <a:ea typeface="Calibri" pitchFamily="34" charset="-122"/>
                <a:cs typeface="Calibri" pitchFamily="34" charset="-120"/>
              </a:rPr>
              <a:t>voluntarios con mayor educación y disposición a cooperar → sobreestima el comportamiento prosocial.</a:t>
            </a:r>
            <a:endParaRPr lang="en-US" sz="1200" dirty="0"/>
          </a:p>
        </p:txBody>
      </p:sp>
      <p:sp>
        <p:nvSpPr>
          <p:cNvPr id="8" name="Shape 6"/>
          <p:cNvSpPr/>
          <p:nvPr/>
        </p:nvSpPr>
        <p:spPr>
          <a:xfrm>
            <a:off x="457200" y="2880360"/>
            <a:ext cx="3474720" cy="36576"/>
          </a:xfrm>
          <a:prstGeom prst="rect">
            <a:avLst/>
          </a:prstGeom>
          <a:solidFill>
            <a:srgbClr val="EAEAF0"/>
          </a:solidFill>
          <a:ln w="12700">
            <a:solidFill>
              <a:srgbClr val="EAEAF0"/>
            </a:solidFill>
            <a:prstDash val="solid"/>
          </a:ln>
        </p:spPr>
        <p:txBody>
          <a:bodyPr/>
          <a:lstStyle/>
          <a:p>
            <a:endParaRPr lang="es-CO"/>
          </a:p>
        </p:txBody>
      </p:sp>
      <p:sp>
        <p:nvSpPr>
          <p:cNvPr id="9" name="Text 7"/>
          <p:cNvSpPr/>
          <p:nvPr/>
        </p:nvSpPr>
        <p:spPr>
          <a:xfrm>
            <a:off x="457200" y="3017520"/>
            <a:ext cx="3657600" cy="1097280"/>
          </a:xfrm>
          <a:prstGeom prst="rect">
            <a:avLst/>
          </a:prstGeom>
          <a:noFill/>
          <a:ln/>
        </p:spPr>
        <p:txBody>
          <a:bodyPr wrap="square" rtlCol="0" anchor="ctr"/>
          <a:lstStyle/>
          <a:p>
            <a:pPr marL="0" indent="0">
              <a:buNone/>
            </a:pPr>
            <a:r>
              <a:rPr lang="en-US" sz="1200" b="1" dirty="0">
                <a:solidFill>
                  <a:srgbClr val="E8533A"/>
                </a:solidFill>
                <a:latin typeface="Calibri" pitchFamily="34" charset="0"/>
                <a:ea typeface="Calibri" pitchFamily="34" charset="-122"/>
                <a:cs typeface="Calibri" pitchFamily="34" charset="-120"/>
              </a:rPr>
              <a:t>Solución: </a:t>
            </a:r>
            <a:r>
              <a:rPr lang="en-US" sz="1200" dirty="0">
                <a:solidFill>
                  <a:srgbClr val="363636"/>
                </a:solidFill>
                <a:latin typeface="Calibri" pitchFamily="34" charset="0"/>
                <a:ea typeface="Calibri" pitchFamily="34" charset="-122"/>
                <a:cs typeface="Calibri" pitchFamily="34" charset="-120"/>
              </a:rPr>
              <a:t>muestras representativas o comparar con profesionales.</a:t>
            </a:r>
            <a:endParaRPr lang="en-US" sz="1200" dirty="0"/>
          </a:p>
        </p:txBody>
      </p:sp>
      <p:sp>
        <p:nvSpPr>
          <p:cNvPr id="10" name="Shape 8"/>
          <p:cNvSpPr/>
          <p:nvPr/>
        </p:nvSpPr>
        <p:spPr>
          <a:xfrm>
            <a:off x="4846320" y="960120"/>
            <a:ext cx="4023360" cy="3749040"/>
          </a:xfrm>
          <a:prstGeom prst="rect">
            <a:avLst/>
          </a:prstGeom>
          <a:solidFill>
            <a:srgbClr val="FFFFFF"/>
          </a:solidFill>
          <a:ln w="12700">
            <a:solidFill>
              <a:srgbClr val="EAEAF0"/>
            </a:solidFill>
            <a:prstDash val="solid"/>
          </a:ln>
        </p:spPr>
        <p:txBody>
          <a:bodyPr/>
          <a:lstStyle/>
          <a:p>
            <a:endParaRPr lang="es-CO"/>
          </a:p>
        </p:txBody>
      </p:sp>
      <p:sp>
        <p:nvSpPr>
          <p:cNvPr id="11" name="Shape 9"/>
          <p:cNvSpPr/>
          <p:nvPr/>
        </p:nvSpPr>
        <p:spPr>
          <a:xfrm>
            <a:off x="4846320" y="960120"/>
            <a:ext cx="4023360" cy="64008"/>
          </a:xfrm>
          <a:prstGeom prst="rect">
            <a:avLst/>
          </a:prstGeom>
          <a:solidFill>
            <a:srgbClr val="1E2761"/>
          </a:solidFill>
          <a:ln w="12700">
            <a:solidFill>
              <a:srgbClr val="1E2761"/>
            </a:solidFill>
            <a:prstDash val="solid"/>
          </a:ln>
        </p:spPr>
        <p:txBody>
          <a:bodyPr/>
          <a:lstStyle/>
          <a:p>
            <a:endParaRPr lang="es-CO"/>
          </a:p>
        </p:txBody>
      </p:sp>
      <p:sp>
        <p:nvSpPr>
          <p:cNvPr id="12" name="Text 10"/>
          <p:cNvSpPr/>
          <p:nvPr/>
        </p:nvSpPr>
        <p:spPr>
          <a:xfrm>
            <a:off x="5029200" y="1097280"/>
            <a:ext cx="3657600" cy="4114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02  Escrutinio y falta de anonimato</a:t>
            </a:r>
            <a:endParaRPr lang="en-US" sz="1300" dirty="0"/>
          </a:p>
        </p:txBody>
      </p:sp>
      <p:sp>
        <p:nvSpPr>
          <p:cNvPr id="13" name="Text 11"/>
          <p:cNvSpPr/>
          <p:nvPr/>
        </p:nvSpPr>
        <p:spPr>
          <a:xfrm>
            <a:off x="5029200" y="1600200"/>
            <a:ext cx="3657600" cy="1188720"/>
          </a:xfrm>
          <a:prstGeom prst="rect">
            <a:avLst/>
          </a:prstGeom>
          <a:noFill/>
          <a:ln/>
        </p:spPr>
        <p:txBody>
          <a:bodyPr wrap="square" rtlCol="0" anchor="ctr"/>
          <a:lstStyle/>
          <a:p>
            <a:pPr marL="0" indent="0">
              <a:buNone/>
            </a:pPr>
            <a:r>
              <a:rPr lang="en-US" sz="1200" b="1" dirty="0">
                <a:solidFill>
                  <a:srgbClr val="363636"/>
                </a:solidFill>
                <a:latin typeface="Calibri" pitchFamily="34" charset="0"/>
                <a:ea typeface="Calibri" pitchFamily="34" charset="-122"/>
                <a:cs typeface="Calibri" pitchFamily="34" charset="-120"/>
              </a:rPr>
              <a:t>Problema: </a:t>
            </a:r>
            <a:r>
              <a:rPr lang="en-US" sz="1200" dirty="0">
                <a:solidFill>
                  <a:srgbClr val="363636"/>
                </a:solidFill>
                <a:latin typeface="Calibri" pitchFamily="34" charset="0"/>
                <a:ea typeface="Calibri" pitchFamily="34" charset="-122"/>
                <a:cs typeface="Calibri" pitchFamily="34" charset="-120"/>
              </a:rPr>
              <a:t>saber que te observan exagera el comportamiento prosocial vs. entornos naturales.</a:t>
            </a:r>
            <a:endParaRPr lang="en-US" sz="1200" dirty="0"/>
          </a:p>
        </p:txBody>
      </p:sp>
      <p:sp>
        <p:nvSpPr>
          <p:cNvPr id="14" name="Shape 12"/>
          <p:cNvSpPr/>
          <p:nvPr/>
        </p:nvSpPr>
        <p:spPr>
          <a:xfrm>
            <a:off x="5029200" y="2880360"/>
            <a:ext cx="3474720" cy="36576"/>
          </a:xfrm>
          <a:prstGeom prst="rect">
            <a:avLst/>
          </a:prstGeom>
          <a:solidFill>
            <a:srgbClr val="EAEAF0"/>
          </a:solidFill>
          <a:ln w="12700">
            <a:solidFill>
              <a:srgbClr val="EAEAF0"/>
            </a:solidFill>
            <a:prstDash val="solid"/>
          </a:ln>
        </p:spPr>
        <p:txBody>
          <a:bodyPr/>
          <a:lstStyle/>
          <a:p>
            <a:endParaRPr lang="es-CO"/>
          </a:p>
        </p:txBody>
      </p:sp>
      <p:sp>
        <p:nvSpPr>
          <p:cNvPr id="15" name="Text 13"/>
          <p:cNvSpPr/>
          <p:nvPr/>
        </p:nvSpPr>
        <p:spPr>
          <a:xfrm>
            <a:off x="5029200" y="3017520"/>
            <a:ext cx="3657600" cy="64008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Evidencia: </a:t>
            </a:r>
            <a:r>
              <a:rPr lang="en-US" sz="1200" dirty="0">
                <a:solidFill>
                  <a:srgbClr val="363636"/>
                </a:solidFill>
                <a:latin typeface="Calibri" pitchFamily="34" charset="0"/>
                <a:ea typeface="Calibri" pitchFamily="34" charset="-122"/>
                <a:cs typeface="Calibri" pitchFamily="34" charset="-120"/>
              </a:rPr>
              <a:t>Hoffman et al. — anonimato completo redujo donaciones de 46% a 16%.</a:t>
            </a:r>
            <a:endParaRPr lang="en-US" sz="1200" dirty="0"/>
          </a:p>
        </p:txBody>
      </p:sp>
      <p:sp>
        <p:nvSpPr>
          <p:cNvPr id="16" name="Text 14"/>
          <p:cNvSpPr/>
          <p:nvPr/>
        </p:nvSpPr>
        <p:spPr>
          <a:xfrm>
            <a:off x="5029200" y="3749040"/>
            <a:ext cx="3657600" cy="548640"/>
          </a:xfrm>
          <a:prstGeom prst="rect">
            <a:avLst/>
          </a:prstGeom>
          <a:noFill/>
          <a:ln/>
        </p:spPr>
        <p:txBody>
          <a:bodyPr wrap="square" rtlCol="0" anchor="ctr"/>
          <a:lstStyle/>
          <a:p>
            <a:pPr marL="0" indent="0">
              <a:buNone/>
            </a:pPr>
            <a:r>
              <a:rPr lang="en-US" sz="1200" b="1" dirty="0">
                <a:solidFill>
                  <a:srgbClr val="E8533A"/>
                </a:solidFill>
                <a:latin typeface="Calibri" pitchFamily="34" charset="0"/>
                <a:ea typeface="Calibri" pitchFamily="34" charset="-122"/>
                <a:cs typeface="Calibri" pitchFamily="34" charset="-120"/>
              </a:rPr>
              <a:t>Solución: </a:t>
            </a:r>
            <a:r>
              <a:rPr lang="en-US" sz="1200" dirty="0">
                <a:solidFill>
                  <a:srgbClr val="363636"/>
                </a:solidFill>
                <a:latin typeface="Calibri" pitchFamily="34" charset="0"/>
                <a:ea typeface="Calibri" pitchFamily="34" charset="-122"/>
                <a:cs typeface="Calibri" pitchFamily="34" charset="-120"/>
              </a:rPr>
              <a:t>doble ciego o respuesta aleatorizada.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s-CO"/>
          </a:p>
        </p:txBody>
      </p:sp>
      <p:sp>
        <p:nvSpPr>
          <p:cNvPr id="3" name="Text 1"/>
          <p:cNvSpPr/>
          <p:nvPr/>
        </p:nvSpPr>
        <p:spPr>
          <a:xfrm>
            <a:off x="365760" y="0"/>
            <a:ext cx="8229600" cy="777240"/>
          </a:xfrm>
          <a:prstGeom prst="rect">
            <a:avLst/>
          </a:prstGeom>
          <a:noFill/>
          <a:ln/>
        </p:spPr>
        <p:txBody>
          <a:bodyPr wrap="square" rtlCol="0" anchor="ctr"/>
          <a:lstStyle/>
          <a:p>
            <a:pPr marL="0" indent="0">
              <a:buNone/>
            </a:pPr>
            <a:r>
              <a:rPr lang="en-US" sz="2000" b="1" dirty="0" err="1">
                <a:solidFill>
                  <a:srgbClr val="FFFFFF"/>
                </a:solidFill>
                <a:latin typeface="Calibri" pitchFamily="34" charset="0"/>
                <a:ea typeface="Calibri" pitchFamily="34" charset="-122"/>
                <a:cs typeface="Calibri" pitchFamily="34" charset="-120"/>
              </a:rPr>
              <a:t>Contexto</a:t>
            </a:r>
            <a:r>
              <a:rPr lang="en-US" sz="2000" b="1" dirty="0">
                <a:solidFill>
                  <a:srgbClr val="FFFFFF"/>
                </a:solidFill>
                <a:latin typeface="Calibri" pitchFamily="34" charset="0"/>
                <a:ea typeface="Calibri" pitchFamily="34" charset="-122"/>
                <a:cs typeface="Calibri" pitchFamily="34" charset="-120"/>
              </a:rPr>
              <a:t>, Incentivos y Horizonte</a:t>
            </a:r>
            <a:endParaRPr lang="en-US" sz="2000" dirty="0"/>
          </a:p>
        </p:txBody>
      </p:sp>
      <p:sp>
        <p:nvSpPr>
          <p:cNvPr id="4" name="Shape 2"/>
          <p:cNvSpPr/>
          <p:nvPr/>
        </p:nvSpPr>
        <p:spPr>
          <a:xfrm>
            <a:off x="274320" y="960120"/>
            <a:ext cx="8595360" cy="1234440"/>
          </a:xfrm>
          <a:prstGeom prst="rect">
            <a:avLst/>
          </a:prstGeom>
          <a:solidFill>
            <a:srgbClr val="FFFFFF"/>
          </a:solidFill>
          <a:ln w="12700">
            <a:solidFill>
              <a:srgbClr val="EAEAF0"/>
            </a:solidFill>
            <a:prstDash val="solid"/>
          </a:ln>
        </p:spPr>
        <p:txBody>
          <a:bodyPr/>
          <a:lstStyle/>
          <a:p>
            <a:endParaRPr lang="es-CO"/>
          </a:p>
        </p:txBody>
      </p:sp>
      <p:sp>
        <p:nvSpPr>
          <p:cNvPr id="5" name="Shape 3"/>
          <p:cNvSpPr/>
          <p:nvPr/>
        </p:nvSpPr>
        <p:spPr>
          <a:xfrm>
            <a:off x="274320" y="960120"/>
            <a:ext cx="91440" cy="1234440"/>
          </a:xfrm>
          <a:prstGeom prst="rect">
            <a:avLst/>
          </a:prstGeom>
          <a:solidFill>
            <a:srgbClr val="E8533A"/>
          </a:solidFill>
          <a:ln w="12700">
            <a:solidFill>
              <a:srgbClr val="E8533A"/>
            </a:solidFill>
            <a:prstDash val="solid"/>
          </a:ln>
        </p:spPr>
        <p:txBody>
          <a:bodyPr/>
          <a:lstStyle/>
          <a:p>
            <a:endParaRPr lang="es-CO"/>
          </a:p>
        </p:txBody>
      </p:sp>
      <p:sp>
        <p:nvSpPr>
          <p:cNvPr id="6" name="Text 4"/>
          <p:cNvSpPr/>
          <p:nvPr/>
        </p:nvSpPr>
        <p:spPr>
          <a:xfrm>
            <a:off x="502920" y="1051560"/>
            <a:ext cx="32004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03  Contexto artificial</a:t>
            </a:r>
            <a:endParaRPr lang="en-US" sz="1300" dirty="0"/>
          </a:p>
        </p:txBody>
      </p:sp>
      <p:sp>
        <p:nvSpPr>
          <p:cNvPr id="7" name="Text 5"/>
          <p:cNvSpPr/>
          <p:nvPr/>
        </p:nvSpPr>
        <p:spPr>
          <a:xfrm>
            <a:off x="502920" y="1371600"/>
            <a:ext cx="3840480" cy="685800"/>
          </a:xfrm>
          <a:prstGeom prst="rect">
            <a:avLst/>
          </a:prstGeom>
          <a:noFill/>
          <a:ln/>
        </p:spPr>
        <p:txBody>
          <a:bodyPr wrap="square" rtlCol="0" anchor="ctr"/>
          <a:lstStyle/>
          <a:p>
            <a:pPr marL="0" indent="0">
              <a:buNone/>
            </a:pPr>
            <a:r>
              <a:rPr lang="en-US" sz="1050" dirty="0">
                <a:solidFill>
                  <a:srgbClr val="E8533A"/>
                </a:solidFill>
                <a:latin typeface="Calibri" pitchFamily="34" charset="0"/>
                <a:ea typeface="Calibri" pitchFamily="34" charset="-122"/>
                <a:cs typeface="Calibri" pitchFamily="34" charset="-120"/>
              </a:rPr>
              <a:t>⚠ </a:t>
            </a:r>
            <a:r>
              <a:rPr lang="en-US" sz="1050" dirty="0">
                <a:solidFill>
                  <a:srgbClr val="363636"/>
                </a:solidFill>
                <a:latin typeface="Calibri" pitchFamily="34" charset="0"/>
                <a:ea typeface="Calibri" pitchFamily="34" charset="-122"/>
                <a:cs typeface="Calibri" pitchFamily="34" charset="-120"/>
              </a:rPr>
              <a:t>Normas culturales que el investigador no controla cambian el juego efectivamente jugado.</a:t>
            </a:r>
            <a:endParaRPr lang="en-US" sz="1050" dirty="0"/>
          </a:p>
        </p:txBody>
      </p:sp>
      <p:sp>
        <p:nvSpPr>
          <p:cNvPr id="8" name="Text 6"/>
          <p:cNvSpPr/>
          <p:nvPr/>
        </p:nvSpPr>
        <p:spPr>
          <a:xfrm>
            <a:off x="4480560" y="1051560"/>
            <a:ext cx="4206240" cy="594360"/>
          </a:xfrm>
          <a:prstGeom prst="rect">
            <a:avLst/>
          </a:prstGeom>
          <a:noFill/>
          <a:ln/>
        </p:spPr>
        <p:txBody>
          <a:bodyPr wrap="square" rtlCol="0" anchor="ctr"/>
          <a:lstStyle/>
          <a:p>
            <a:pPr marL="0" indent="0">
              <a:buNone/>
            </a:pPr>
            <a:r>
              <a:rPr lang="en-US" sz="1050" b="1" dirty="0">
                <a:solidFill>
                  <a:srgbClr val="E8533A"/>
                </a:solidFill>
                <a:latin typeface="Calibri" pitchFamily="34" charset="0"/>
                <a:ea typeface="Calibri" pitchFamily="34" charset="-122"/>
                <a:cs typeface="Calibri" pitchFamily="34" charset="-120"/>
              </a:rPr>
              <a:t>Evidencia: </a:t>
            </a:r>
            <a:r>
              <a:rPr lang="en-US" sz="1050" dirty="0">
                <a:solidFill>
                  <a:srgbClr val="363636"/>
                </a:solidFill>
                <a:latin typeface="Calibri" pitchFamily="34" charset="0"/>
                <a:ea typeface="Calibri" pitchFamily="34" charset="-122"/>
                <a:cs typeface="Calibri" pitchFamily="34" charset="-120"/>
              </a:rPr>
              <a:t>Herrmann et al.: mismos resultados varían enormemente entre 16 sociedades.</a:t>
            </a:r>
            <a:endParaRPr lang="en-US" sz="1050" dirty="0"/>
          </a:p>
        </p:txBody>
      </p:sp>
      <p:sp>
        <p:nvSpPr>
          <p:cNvPr id="9" name="Text 7"/>
          <p:cNvSpPr/>
          <p:nvPr/>
        </p:nvSpPr>
        <p:spPr>
          <a:xfrm>
            <a:off x="4480560" y="1618488"/>
            <a:ext cx="4206240" cy="502920"/>
          </a:xfrm>
          <a:prstGeom prst="rect">
            <a:avLst/>
          </a:prstGeom>
          <a:noFill/>
          <a:ln/>
        </p:spPr>
        <p:txBody>
          <a:bodyPr wrap="square" rtlCol="0" anchor="ctr"/>
          <a:lstStyle/>
          <a:p>
            <a:pPr marL="0" indent="0">
              <a:buNone/>
            </a:pPr>
            <a:r>
              <a:rPr lang="en-US" sz="1050" b="1" dirty="0">
                <a:solidFill>
                  <a:srgbClr val="2C7A4B"/>
                </a:solidFill>
                <a:latin typeface="Calibri" pitchFamily="34" charset="0"/>
                <a:ea typeface="Calibri" pitchFamily="34" charset="-122"/>
                <a:cs typeface="Calibri" pitchFamily="34" charset="-120"/>
              </a:rPr>
              <a:t>✓ Solución: </a:t>
            </a:r>
            <a:r>
              <a:rPr lang="en-US" sz="1050" dirty="0">
                <a:solidFill>
                  <a:srgbClr val="363636"/>
                </a:solidFill>
                <a:latin typeface="Calibri" pitchFamily="34" charset="0"/>
                <a:ea typeface="Calibri" pitchFamily="34" charset="-122"/>
                <a:cs typeface="Calibri" pitchFamily="34" charset="-120"/>
              </a:rPr>
              <a:t>Field experiments — participantes en su entorno natural sin saber que son estudiados.</a:t>
            </a:r>
            <a:endParaRPr lang="en-US" sz="1050" dirty="0"/>
          </a:p>
        </p:txBody>
      </p:sp>
      <p:sp>
        <p:nvSpPr>
          <p:cNvPr id="10" name="Shape 8"/>
          <p:cNvSpPr/>
          <p:nvPr/>
        </p:nvSpPr>
        <p:spPr>
          <a:xfrm>
            <a:off x="274320" y="2331720"/>
            <a:ext cx="8595360" cy="1234440"/>
          </a:xfrm>
          <a:prstGeom prst="rect">
            <a:avLst/>
          </a:prstGeom>
          <a:solidFill>
            <a:srgbClr val="FFFFFF"/>
          </a:solidFill>
          <a:ln w="12700">
            <a:solidFill>
              <a:srgbClr val="EAEAF0"/>
            </a:solidFill>
            <a:prstDash val="solid"/>
          </a:ln>
        </p:spPr>
        <p:txBody>
          <a:bodyPr/>
          <a:lstStyle/>
          <a:p>
            <a:endParaRPr lang="es-CO"/>
          </a:p>
        </p:txBody>
      </p:sp>
      <p:sp>
        <p:nvSpPr>
          <p:cNvPr id="11" name="Shape 9"/>
          <p:cNvSpPr/>
          <p:nvPr/>
        </p:nvSpPr>
        <p:spPr>
          <a:xfrm>
            <a:off x="274320" y="2331720"/>
            <a:ext cx="91440" cy="1234440"/>
          </a:xfrm>
          <a:prstGeom prst="rect">
            <a:avLst/>
          </a:prstGeom>
          <a:solidFill>
            <a:srgbClr val="1E2761"/>
          </a:solidFill>
          <a:ln w="12700">
            <a:solidFill>
              <a:srgbClr val="1E2761"/>
            </a:solidFill>
            <a:prstDash val="solid"/>
          </a:ln>
        </p:spPr>
        <p:txBody>
          <a:bodyPr/>
          <a:lstStyle/>
          <a:p>
            <a:endParaRPr lang="es-CO"/>
          </a:p>
        </p:txBody>
      </p:sp>
      <p:sp>
        <p:nvSpPr>
          <p:cNvPr id="12" name="Text 10"/>
          <p:cNvSpPr/>
          <p:nvPr/>
        </p:nvSpPr>
        <p:spPr>
          <a:xfrm>
            <a:off x="502920" y="2423160"/>
            <a:ext cx="32004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04  Incentivos bajos</a:t>
            </a:r>
            <a:endParaRPr lang="en-US" sz="1300" dirty="0"/>
          </a:p>
        </p:txBody>
      </p:sp>
      <p:sp>
        <p:nvSpPr>
          <p:cNvPr id="13" name="Text 11"/>
          <p:cNvSpPr/>
          <p:nvPr/>
        </p:nvSpPr>
        <p:spPr>
          <a:xfrm>
            <a:off x="502920" y="2743200"/>
            <a:ext cx="3840480" cy="685800"/>
          </a:xfrm>
          <a:prstGeom prst="rect">
            <a:avLst/>
          </a:prstGeom>
          <a:noFill/>
          <a:ln/>
        </p:spPr>
        <p:txBody>
          <a:bodyPr wrap="square" rtlCol="0" anchor="ctr"/>
          <a:lstStyle/>
          <a:p>
            <a:pPr marL="0" indent="0">
              <a:buNone/>
            </a:pPr>
            <a:r>
              <a:rPr lang="en-US" sz="1050" dirty="0">
                <a:solidFill>
                  <a:srgbClr val="E8533A"/>
                </a:solidFill>
                <a:latin typeface="Calibri" pitchFamily="34" charset="0"/>
                <a:ea typeface="Calibri" pitchFamily="34" charset="-122"/>
                <a:cs typeface="Calibri" pitchFamily="34" charset="-120"/>
              </a:rPr>
              <a:t>⚠ </a:t>
            </a:r>
            <a:r>
              <a:rPr lang="en-US" sz="1050" dirty="0">
                <a:solidFill>
                  <a:srgbClr val="363636"/>
                </a:solidFill>
                <a:latin typeface="Calibri" pitchFamily="34" charset="0"/>
                <a:ea typeface="Calibri" pitchFamily="34" charset="-122"/>
                <a:cs typeface="Calibri" pitchFamily="34" charset="-120"/>
              </a:rPr>
              <a:t>Montos pequeños no reflejan decisiones económicas reales.</a:t>
            </a:r>
            <a:endParaRPr lang="en-US" sz="1050" dirty="0"/>
          </a:p>
        </p:txBody>
      </p:sp>
      <p:sp>
        <p:nvSpPr>
          <p:cNvPr id="14" name="Text 12"/>
          <p:cNvSpPr/>
          <p:nvPr/>
        </p:nvSpPr>
        <p:spPr>
          <a:xfrm>
            <a:off x="4480560" y="2423160"/>
            <a:ext cx="4206240" cy="59436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Evidencia: </a:t>
            </a:r>
            <a:r>
              <a:rPr lang="en-US" sz="1050" dirty="0">
                <a:solidFill>
                  <a:srgbClr val="363636"/>
                </a:solidFill>
                <a:latin typeface="Calibri" pitchFamily="34" charset="0"/>
                <a:ea typeface="Calibri" pitchFamily="34" charset="-122"/>
                <a:cs typeface="Calibri" pitchFamily="34" charset="-120"/>
              </a:rPr>
              <a:t>Levitt &amp; List: al subir los incentivos, el comportamiento prosocial disminuye.</a:t>
            </a:r>
            <a:endParaRPr lang="en-US" sz="1050" dirty="0"/>
          </a:p>
        </p:txBody>
      </p:sp>
      <p:sp>
        <p:nvSpPr>
          <p:cNvPr id="15" name="Text 13"/>
          <p:cNvSpPr/>
          <p:nvPr/>
        </p:nvSpPr>
        <p:spPr>
          <a:xfrm>
            <a:off x="4480560" y="2990088"/>
            <a:ext cx="4206240" cy="502920"/>
          </a:xfrm>
          <a:prstGeom prst="rect">
            <a:avLst/>
          </a:prstGeom>
          <a:noFill/>
          <a:ln/>
        </p:spPr>
        <p:txBody>
          <a:bodyPr wrap="square" rtlCol="0" anchor="ctr"/>
          <a:lstStyle/>
          <a:p>
            <a:pPr marL="0" indent="0">
              <a:buNone/>
            </a:pPr>
            <a:r>
              <a:rPr lang="en-US" sz="1050" b="1" dirty="0">
                <a:solidFill>
                  <a:srgbClr val="2C7A4B"/>
                </a:solidFill>
                <a:latin typeface="Calibri" pitchFamily="34" charset="0"/>
                <a:ea typeface="Calibri" pitchFamily="34" charset="-122"/>
                <a:cs typeface="Calibri" pitchFamily="34" charset="-120"/>
              </a:rPr>
              <a:t>✓ Solución: </a:t>
            </a:r>
            <a:r>
              <a:rPr lang="en-US" sz="1050" dirty="0">
                <a:solidFill>
                  <a:srgbClr val="363636"/>
                </a:solidFill>
                <a:latin typeface="Calibri" pitchFamily="34" charset="0"/>
                <a:ea typeface="Calibri" pitchFamily="34" charset="-122"/>
                <a:cs typeface="Calibri" pitchFamily="34" charset="-120"/>
              </a:rPr>
              <a:t>Aumentar las apuestas hasta que sean significativas respecto al ingreso del participante.</a:t>
            </a:r>
            <a:endParaRPr lang="en-US" sz="1050" dirty="0"/>
          </a:p>
        </p:txBody>
      </p:sp>
      <p:sp>
        <p:nvSpPr>
          <p:cNvPr id="16" name="Shape 14"/>
          <p:cNvSpPr/>
          <p:nvPr/>
        </p:nvSpPr>
        <p:spPr>
          <a:xfrm>
            <a:off x="274320" y="3703320"/>
            <a:ext cx="8595360" cy="1234440"/>
          </a:xfrm>
          <a:prstGeom prst="rect">
            <a:avLst/>
          </a:prstGeom>
          <a:solidFill>
            <a:srgbClr val="FFFFFF"/>
          </a:solidFill>
          <a:ln w="12700">
            <a:solidFill>
              <a:srgbClr val="EAEAF0"/>
            </a:solidFill>
            <a:prstDash val="solid"/>
          </a:ln>
        </p:spPr>
        <p:txBody>
          <a:bodyPr/>
          <a:lstStyle/>
          <a:p>
            <a:endParaRPr lang="es-CO"/>
          </a:p>
        </p:txBody>
      </p:sp>
      <p:sp>
        <p:nvSpPr>
          <p:cNvPr id="17" name="Shape 15"/>
          <p:cNvSpPr/>
          <p:nvPr/>
        </p:nvSpPr>
        <p:spPr>
          <a:xfrm>
            <a:off x="274320" y="3703320"/>
            <a:ext cx="91440" cy="1234440"/>
          </a:xfrm>
          <a:prstGeom prst="rect">
            <a:avLst/>
          </a:prstGeom>
          <a:solidFill>
            <a:srgbClr val="028090"/>
          </a:solidFill>
          <a:ln w="12700">
            <a:solidFill>
              <a:srgbClr val="028090"/>
            </a:solidFill>
            <a:prstDash val="solid"/>
          </a:ln>
        </p:spPr>
        <p:txBody>
          <a:bodyPr/>
          <a:lstStyle/>
          <a:p>
            <a:endParaRPr lang="es-CO"/>
          </a:p>
        </p:txBody>
      </p:sp>
      <p:sp>
        <p:nvSpPr>
          <p:cNvPr id="18" name="Text 16"/>
          <p:cNvSpPr/>
          <p:nvPr/>
        </p:nvSpPr>
        <p:spPr>
          <a:xfrm>
            <a:off x="502920" y="3794760"/>
            <a:ext cx="32004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05  Horizonte temporal corto</a:t>
            </a:r>
            <a:endParaRPr lang="en-US" sz="1300" dirty="0"/>
          </a:p>
        </p:txBody>
      </p:sp>
      <p:sp>
        <p:nvSpPr>
          <p:cNvPr id="19" name="Text 17"/>
          <p:cNvSpPr/>
          <p:nvPr/>
        </p:nvSpPr>
        <p:spPr>
          <a:xfrm>
            <a:off x="502920" y="4114800"/>
            <a:ext cx="3840480" cy="685800"/>
          </a:xfrm>
          <a:prstGeom prst="rect">
            <a:avLst/>
          </a:prstGeom>
          <a:noFill/>
          <a:ln/>
        </p:spPr>
        <p:txBody>
          <a:bodyPr wrap="square" rtlCol="0" anchor="ctr"/>
          <a:lstStyle/>
          <a:p>
            <a:pPr marL="0" indent="0">
              <a:buNone/>
            </a:pPr>
            <a:r>
              <a:rPr lang="en-US" sz="1050" dirty="0">
                <a:solidFill>
                  <a:srgbClr val="E8533A"/>
                </a:solidFill>
                <a:latin typeface="Calibri" pitchFamily="34" charset="0"/>
                <a:ea typeface="Calibri" pitchFamily="34" charset="-122"/>
                <a:cs typeface="Calibri" pitchFamily="34" charset="-120"/>
              </a:rPr>
              <a:t>⚠ </a:t>
            </a:r>
            <a:r>
              <a:rPr lang="en-US" sz="1050" dirty="0">
                <a:solidFill>
                  <a:srgbClr val="363636"/>
                </a:solidFill>
                <a:latin typeface="Calibri" pitchFamily="34" charset="0"/>
                <a:ea typeface="Calibri" pitchFamily="34" charset="-122"/>
                <a:cs typeface="Calibri" pitchFamily="34" charset="-120"/>
              </a:rPr>
              <a:t>Pocas horas de experimento no capturan dinámicas de largo plazo.</a:t>
            </a:r>
            <a:endParaRPr lang="en-US" sz="1050" dirty="0"/>
          </a:p>
        </p:txBody>
      </p:sp>
      <p:sp>
        <p:nvSpPr>
          <p:cNvPr id="20" name="Text 18"/>
          <p:cNvSpPr/>
          <p:nvPr/>
        </p:nvSpPr>
        <p:spPr>
          <a:xfrm>
            <a:off x="4480560" y="3794760"/>
            <a:ext cx="4206240" cy="594360"/>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Evidencia: </a:t>
            </a:r>
            <a:r>
              <a:rPr lang="en-US" sz="1050" dirty="0">
                <a:solidFill>
                  <a:srgbClr val="363636"/>
                </a:solidFill>
                <a:latin typeface="Calibri" pitchFamily="34" charset="0"/>
                <a:ea typeface="Calibri" pitchFamily="34" charset="-122"/>
                <a:cs typeface="Calibri" pitchFamily="34" charset="-120"/>
              </a:rPr>
              <a:t>Gneezy &amp; List: efectos de las primeras horas desaparecen con el tiempo.</a:t>
            </a:r>
            <a:endParaRPr lang="en-US" sz="1050" dirty="0"/>
          </a:p>
        </p:txBody>
      </p:sp>
      <p:sp>
        <p:nvSpPr>
          <p:cNvPr id="21" name="Text 19"/>
          <p:cNvSpPr/>
          <p:nvPr/>
        </p:nvSpPr>
        <p:spPr>
          <a:xfrm>
            <a:off x="4480560" y="4361688"/>
            <a:ext cx="4206240" cy="502920"/>
          </a:xfrm>
          <a:prstGeom prst="rect">
            <a:avLst/>
          </a:prstGeom>
          <a:noFill/>
          <a:ln/>
        </p:spPr>
        <p:txBody>
          <a:bodyPr wrap="square" rtlCol="0" anchor="ctr"/>
          <a:lstStyle/>
          <a:p>
            <a:pPr marL="0" indent="0">
              <a:buNone/>
            </a:pPr>
            <a:r>
              <a:rPr lang="en-US" sz="1050" b="1" dirty="0">
                <a:solidFill>
                  <a:srgbClr val="2C7A4B"/>
                </a:solidFill>
                <a:latin typeface="Calibri" pitchFamily="34" charset="0"/>
                <a:ea typeface="Calibri" pitchFamily="34" charset="-122"/>
                <a:cs typeface="Calibri" pitchFamily="34" charset="-120"/>
              </a:rPr>
              <a:t>✓ Solución: </a:t>
            </a:r>
            <a:r>
              <a:rPr lang="en-US" sz="1050" dirty="0">
                <a:solidFill>
                  <a:srgbClr val="363636"/>
                </a:solidFill>
                <a:latin typeface="Calibri" pitchFamily="34" charset="0"/>
                <a:ea typeface="Calibri" pitchFamily="34" charset="-122"/>
                <a:cs typeface="Calibri" pitchFamily="34" charset="-120"/>
              </a:rPr>
              <a:t>Experimentos longitudinales o con múltiples sesiones.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33A"/>
          </a:solidFill>
          <a:ln w="12700">
            <a:solidFill>
              <a:srgbClr val="E8533A"/>
            </a:solidFill>
            <a:prstDash val="solid"/>
          </a:ln>
        </p:spPr>
        <p:txBody>
          <a:bodyPr/>
          <a:lstStyle/>
          <a:p>
            <a:endParaRPr lang="es-CO"/>
          </a:p>
        </p:txBody>
      </p:sp>
      <p:sp>
        <p:nvSpPr>
          <p:cNvPr id="3" name="Text 1"/>
          <p:cNvSpPr/>
          <p:nvPr/>
        </p:nvSpPr>
        <p:spPr>
          <a:xfrm>
            <a:off x="365760" y="64008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Conclusión</a:t>
            </a:r>
            <a:endParaRPr lang="en-US" sz="2800" dirty="0"/>
          </a:p>
        </p:txBody>
      </p:sp>
      <p:sp>
        <p:nvSpPr>
          <p:cNvPr id="4" name="Shape 2"/>
          <p:cNvSpPr/>
          <p:nvPr/>
        </p:nvSpPr>
        <p:spPr>
          <a:xfrm>
            <a:off x="365760" y="1764792"/>
            <a:ext cx="411480" cy="411480"/>
          </a:xfrm>
          <a:prstGeom prst="ellipse">
            <a:avLst/>
          </a:prstGeom>
          <a:solidFill>
            <a:srgbClr val="E8533A"/>
          </a:solidFill>
          <a:ln w="12700">
            <a:solidFill>
              <a:srgbClr val="E8533A"/>
            </a:solidFill>
            <a:prstDash val="solid"/>
          </a:ln>
        </p:spPr>
        <p:txBody>
          <a:bodyPr/>
          <a:lstStyle/>
          <a:p>
            <a:endParaRPr lang="es-CO"/>
          </a:p>
        </p:txBody>
      </p:sp>
      <p:sp>
        <p:nvSpPr>
          <p:cNvPr id="5" name="Text 3"/>
          <p:cNvSpPr/>
          <p:nvPr/>
        </p:nvSpPr>
        <p:spPr>
          <a:xfrm>
            <a:off x="365760" y="1764792"/>
            <a:ext cx="411480" cy="41148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9" name="Text 7"/>
          <p:cNvSpPr/>
          <p:nvPr/>
        </p:nvSpPr>
        <p:spPr>
          <a:xfrm>
            <a:off x="1005840" y="1883664"/>
            <a:ext cx="7772400" cy="502920"/>
          </a:xfrm>
          <a:prstGeom prst="rect">
            <a:avLst/>
          </a:prstGeom>
          <a:noFill/>
          <a:ln/>
        </p:spPr>
        <p:txBody>
          <a:bodyPr wrap="square" rtlCol="0" anchor="ctr"/>
          <a:lstStyle/>
          <a:p>
            <a:pPr marL="0" indent="0">
              <a:buNone/>
            </a:pPr>
            <a:r>
              <a:rPr lang="es-ES" sz="1400" dirty="0">
                <a:solidFill>
                  <a:srgbClr val="F5F3EE"/>
                </a:solidFill>
                <a:latin typeface="Calibri" pitchFamily="34" charset="0"/>
                <a:ea typeface="Calibri" pitchFamily="34" charset="-122"/>
                <a:cs typeface="Calibri" pitchFamily="34" charset="-120"/>
              </a:rPr>
              <a:t>En el experimento de clase los participantes se conocían, no había incentivos reales, duró una sola sesión y algunos tenían conocimiento previo de economía experimental. Esto explica por qué los resultados difieren de Herrmann et al. y refuerza que el diseño experimental determina qué podemos concluir y con cuánta confianza.</a:t>
            </a:r>
            <a:endParaRPr lang="en-US" sz="1400" dirty="0"/>
          </a:p>
        </p:txBody>
      </p:sp>
      <p:sp>
        <p:nvSpPr>
          <p:cNvPr id="10" name="Shape 8"/>
          <p:cNvSpPr/>
          <p:nvPr/>
        </p:nvSpPr>
        <p:spPr>
          <a:xfrm>
            <a:off x="411480" y="2778807"/>
            <a:ext cx="411480" cy="411480"/>
          </a:xfrm>
          <a:prstGeom prst="ellipse">
            <a:avLst/>
          </a:prstGeom>
          <a:solidFill>
            <a:srgbClr val="E8533A"/>
          </a:solidFill>
          <a:ln w="12700">
            <a:solidFill>
              <a:srgbClr val="E8533A"/>
            </a:solidFill>
            <a:prstDash val="solid"/>
          </a:ln>
        </p:spPr>
        <p:txBody>
          <a:bodyPr/>
          <a:lstStyle/>
          <a:p>
            <a:endParaRPr lang="es-CO"/>
          </a:p>
        </p:txBody>
      </p:sp>
      <p:sp>
        <p:nvSpPr>
          <p:cNvPr id="11" name="Text 9"/>
          <p:cNvSpPr/>
          <p:nvPr/>
        </p:nvSpPr>
        <p:spPr>
          <a:xfrm>
            <a:off x="411480" y="2778807"/>
            <a:ext cx="411480" cy="41148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2" name="Text 10"/>
          <p:cNvSpPr/>
          <p:nvPr/>
        </p:nvSpPr>
        <p:spPr>
          <a:xfrm>
            <a:off x="1005840" y="2760519"/>
            <a:ext cx="7772400" cy="502920"/>
          </a:xfrm>
          <a:prstGeom prst="rect">
            <a:avLst/>
          </a:prstGeom>
          <a:noFill/>
          <a:ln/>
        </p:spPr>
        <p:txBody>
          <a:bodyPr wrap="square" rtlCol="0" anchor="ctr"/>
          <a:lstStyle/>
          <a:p>
            <a:pPr marL="0" indent="0">
              <a:buNone/>
            </a:pPr>
            <a:r>
              <a:rPr lang="en-US" sz="1400" dirty="0">
                <a:solidFill>
                  <a:srgbClr val="F5F3EE"/>
                </a:solidFill>
                <a:latin typeface="Calibri" pitchFamily="34" charset="0"/>
                <a:ea typeface="Calibri" pitchFamily="34" charset="-122"/>
                <a:cs typeface="Calibri" pitchFamily="34" charset="-120"/>
              </a:rPr>
              <a:t>Field experiments, doble ciego y muestras representativas reducen estas brechas.</a:t>
            </a:r>
            <a:endParaRPr lang="en-US" sz="1400" dirty="0"/>
          </a:p>
        </p:txBody>
      </p:sp>
      <p:sp>
        <p:nvSpPr>
          <p:cNvPr id="13" name="Shape 11"/>
          <p:cNvSpPr/>
          <p:nvPr/>
        </p:nvSpPr>
        <p:spPr>
          <a:xfrm>
            <a:off x="411480" y="3601767"/>
            <a:ext cx="411480" cy="411480"/>
          </a:xfrm>
          <a:prstGeom prst="ellipse">
            <a:avLst/>
          </a:prstGeom>
          <a:solidFill>
            <a:srgbClr val="E8533A"/>
          </a:solidFill>
          <a:ln w="12700">
            <a:solidFill>
              <a:srgbClr val="E8533A"/>
            </a:solidFill>
            <a:prstDash val="solid"/>
          </a:ln>
        </p:spPr>
        <p:txBody>
          <a:bodyPr/>
          <a:lstStyle/>
          <a:p>
            <a:endParaRPr lang="es-CO"/>
          </a:p>
        </p:txBody>
      </p:sp>
      <p:sp>
        <p:nvSpPr>
          <p:cNvPr id="14" name="Text 12"/>
          <p:cNvSpPr/>
          <p:nvPr/>
        </p:nvSpPr>
        <p:spPr>
          <a:xfrm>
            <a:off x="411480" y="3601767"/>
            <a:ext cx="411480" cy="41148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5" name="Text 13"/>
          <p:cNvSpPr/>
          <p:nvPr/>
        </p:nvSpPr>
        <p:spPr>
          <a:xfrm>
            <a:off x="1005840" y="3583479"/>
            <a:ext cx="7772400" cy="502920"/>
          </a:xfrm>
          <a:prstGeom prst="rect">
            <a:avLst/>
          </a:prstGeom>
          <a:noFill/>
          <a:ln/>
        </p:spPr>
        <p:txBody>
          <a:bodyPr wrap="square" rtlCol="0" anchor="ctr"/>
          <a:lstStyle/>
          <a:p>
            <a:pPr marL="0" indent="0">
              <a:buNone/>
            </a:pPr>
            <a:r>
              <a:rPr lang="en-US" sz="1400" dirty="0">
                <a:solidFill>
                  <a:srgbClr val="F5F3EE"/>
                </a:solidFill>
                <a:latin typeface="Calibri" pitchFamily="34" charset="0"/>
                <a:ea typeface="Calibri" pitchFamily="34" charset="-122"/>
                <a:cs typeface="Calibri" pitchFamily="34" charset="-120"/>
              </a:rPr>
              <a:t>Los resultados del lab son útiles, pero requieren una teoría que guíe su generalización.</a:t>
            </a:r>
            <a:endParaRPr lang="en-US" sz="1400" dirty="0"/>
          </a:p>
        </p:txBody>
      </p:sp>
      <p:sp>
        <p:nvSpPr>
          <p:cNvPr id="16" name="Text 14"/>
          <p:cNvSpPr/>
          <p:nvPr/>
        </p:nvSpPr>
        <p:spPr>
          <a:xfrm>
            <a:off x="365760" y="4663440"/>
            <a:ext cx="8229600" cy="320040"/>
          </a:xfrm>
          <a:prstGeom prst="rect">
            <a:avLst/>
          </a:prstGeom>
          <a:noFill/>
          <a:ln/>
        </p:spPr>
        <p:txBody>
          <a:bodyPr wrap="square" rtlCol="0" anchor="ctr"/>
          <a:lstStyle/>
          <a:p>
            <a:pPr marL="0" indent="0">
              <a:buNone/>
            </a:pPr>
            <a:r>
              <a:rPr lang="en-US" sz="900" dirty="0">
                <a:solidFill>
                  <a:srgbClr val="8A8F9E"/>
                </a:solidFill>
                <a:latin typeface="Calibri" pitchFamily="34" charset="0"/>
                <a:ea typeface="Calibri" pitchFamily="34" charset="-122"/>
                <a:cs typeface="Calibri" pitchFamily="34" charset="-120"/>
              </a:rPr>
              <a:t>Levitt &amp; List (2007)  ·  Herrmann, Thöni &amp; Gächter (2008)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472</Words>
  <Application>Microsoft Office PowerPoint</Application>
  <PresentationFormat>Presentación en pantalla (16:9)</PresentationFormat>
  <Paragraphs>47</Paragraphs>
  <Slides>5</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Calibri</vt:lpstr>
      <vt:lpstr>Segoe UI Emoji</vt:lpstr>
      <vt:lpstr>Office Theme</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Limitaciones de los Experimentos</dc:title>
  <dc:subject>PptxGenJS Presentation</dc:subject>
  <dc:creator>Jessica Gil</dc:creator>
  <cp:lastModifiedBy>Jessica Alejandra Gil Tellez</cp:lastModifiedBy>
  <cp:revision>3</cp:revision>
  <dcterms:created xsi:type="dcterms:W3CDTF">2026-03-18T18:13:32Z</dcterms:created>
  <dcterms:modified xsi:type="dcterms:W3CDTF">2026-03-18T19:14:37Z</dcterms:modified>
</cp:coreProperties>
</file>